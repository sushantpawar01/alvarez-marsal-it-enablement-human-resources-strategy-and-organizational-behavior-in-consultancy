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14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630566" y="2994325"/>
            <a:ext cx="693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Alvarez &amp; Marsal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33237" y="4421325"/>
            <a:ext cx="660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An Analysis of IT, HR, and Organizational Dynamics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4">
            <a:alphaModFix/>
          </a:blip>
          <a:srcRect b="-2912" l="0" r="0" t="0"/>
          <a:stretch/>
        </p:blipFill>
        <p:spPr>
          <a:xfrm>
            <a:off x="4371813" y="689275"/>
            <a:ext cx="3323727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675" y="1439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14375" y="20002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09625" y="2000250"/>
            <a:ext cx="5048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Global professional services firm (1983) specializing in restructuring &amp; turnaround.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14375" y="26574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265747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Known for execution-driven consulting and taking interim C-suite roles (CRO, CFO, COO).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14375" y="33147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9625" y="3314700"/>
            <a:ext cx="5048250" cy="1370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342"/>
                </a:solidFill>
                <a:latin typeface="Lato"/>
                <a:ea typeface="Lato"/>
                <a:cs typeface="Lato"/>
                <a:sym typeface="Lato"/>
              </a:rPr>
              <a:t>Differentiators: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14375" y="482843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482843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IT backbone supports real-time financial models, dashboards, and cross-geography collaboration.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04875" y="3665458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00125" y="3667125"/>
            <a:ext cx="4857750" cy="244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Strong restructuring heritage.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04875" y="405256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00125" y="4054226"/>
            <a:ext cx="4857750" cy="244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Conflict-free, independent advisory (no audit practice).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04875" y="443966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00125" y="4441328"/>
            <a:ext cx="4857750" cy="244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Integrated multidisciplinary capabilities (finance, ops, technology).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Organization Overview &amp; Value Proposition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1687"/>
            <a:ext cx="3429000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071687"/>
            <a:ext cx="3429000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071687"/>
            <a:ext cx="3429000" cy="36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435893" y="3081337"/>
            <a:ext cx="17002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A5B8"/>
                </a:solidFill>
                <a:latin typeface="Poppins"/>
                <a:ea typeface="Poppins"/>
                <a:cs typeface="Poppins"/>
                <a:sym typeface="Poppins"/>
              </a:rPr>
              <a:t>TOP Solutions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66775" y="3729037"/>
            <a:ext cx="28384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Recruitment prioritizes experienced operators. Focus on individuals excelling under pressure. Development via mentorship, continuous feedback, and high accountability.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880848" y="3081337"/>
            <a:ext cx="243030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A5B8"/>
                </a:solidFill>
                <a:latin typeface="Poppins"/>
                <a:ea typeface="Poppins"/>
                <a:cs typeface="Poppins"/>
                <a:sym typeface="Poppins"/>
              </a:rPr>
              <a:t>Performance Mgmt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76775" y="3729037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KPIs: revenue contribution, client feedback, speed, foresight. Utilization monitored via internal dashboards.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840866" y="3081337"/>
            <a:ext cx="213026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A5B8"/>
                </a:solidFill>
                <a:latin typeface="Poppins"/>
                <a:ea typeface="Poppins"/>
                <a:cs typeface="Poppins"/>
                <a:sym typeface="Poppins"/>
              </a:rPr>
              <a:t>Tech-Enabled HR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86775" y="3729037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Advanced analytics for skill mapping, fair compensation, and team optimization. Predictive models for burnout &amp; attrition risks.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0250" y="23860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7400" y="23860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HR Practices at A&amp;M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6012"/>
            <a:ext cx="5286375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86012"/>
            <a:ext cx="5286375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962025" y="2776537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Internal Challenges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62025" y="3262312"/>
            <a:ext cx="4505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Data Security:</a:t>
            </a: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Handling confidential turnaround data increases cyber-risk exposure.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62025" y="3871912"/>
            <a:ext cx="4505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Knowledge Codification:</a:t>
            </a: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Expertise concentrated with senior MDs; difficult to codify playbooks and methodologies.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724650" y="2776537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External Challenges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724650" y="3262312"/>
            <a:ext cx="4505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Rapid Digital Transformation:</a:t>
            </a: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Clients expect quick modernization even during turbulence.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724650" y="3871912"/>
            <a:ext cx="4505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M&amp;A Complexity:</a:t>
            </a: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Day-1 IT continuity, integration, and carve-outs require precision.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724650" y="4481512"/>
            <a:ext cx="4505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Operational Pressure:</a:t>
            </a: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Need for fast execution while managing complex ecosystems.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Major IT &amp; Organizational Challenges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1809750" y="4457700"/>
            <a:ext cx="857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Core IT Enablers:</a:t>
            </a:r>
            <a:r>
              <a:rPr b="0" i="1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Cloud standardization, automated workflows, real-time analytics, and alignment of IT with A&amp;M’s execution-first consulting model.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2190750" y="2667000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342"/>
                </a:solidFill>
                <a:latin typeface="Lato"/>
                <a:ea typeface="Lato"/>
                <a:cs typeface="Lato"/>
                <a:sym typeface="Lato"/>
              </a:rPr>
              <a:t>Data Security:</a:t>
            </a: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Zero-trust architecture, MFA, and continuous monitoring.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2190750" y="3114675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342"/>
                </a:solidFill>
                <a:latin typeface="Lato"/>
                <a:ea typeface="Lato"/>
                <a:cs typeface="Lato"/>
                <a:sym typeface="Lato"/>
              </a:rPr>
              <a:t>Knowledge Retention:</a:t>
            </a: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Enterprise Knowledge Management System (KMS) for playbooks &amp; archives.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2190750" y="3562350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342"/>
                </a:solidFill>
                <a:latin typeface="Lato"/>
                <a:ea typeface="Lato"/>
                <a:cs typeface="Lato"/>
                <a:sym typeface="Lato"/>
              </a:rPr>
              <a:t>Digital Transformation:</a:t>
            </a: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Automation toolkits for IT due diligence &amp; process streamlining.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2190750" y="4010025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342"/>
                </a:solidFill>
                <a:latin typeface="Lato"/>
                <a:ea typeface="Lato"/>
                <a:cs typeface="Lato"/>
                <a:sym typeface="Lato"/>
              </a:rPr>
              <a:t>M&amp;A Complexity:</a:t>
            </a: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Pre-configured frameworks enabling smooth Day-1 operations.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7146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1623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6099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0576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IT Interventions to Overcome Challenges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0275"/>
            <a:ext cx="342900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200275"/>
            <a:ext cx="342900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200275"/>
            <a:ext cx="3429000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935831" y="3209925"/>
            <a:ext cx="27003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A5B8"/>
                </a:solidFill>
                <a:latin typeface="Poppins"/>
                <a:ea typeface="Poppins"/>
                <a:cs typeface="Poppins"/>
                <a:sym typeface="Poppins"/>
              </a:rPr>
              <a:t>Execution Orientation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66775" y="385762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Consultants operate as real-time change agents. IT mirrors this through agile cycles and rapid system deployment.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005863" y="3209925"/>
            <a:ext cx="21802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A5B8"/>
                </a:solidFill>
                <a:latin typeface="Poppins"/>
                <a:ea typeface="Poppins"/>
                <a:cs typeface="Poppins"/>
                <a:sym typeface="Poppins"/>
              </a:rPr>
              <a:t>Operator Mindset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4676775" y="3857625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Preference for field-tested practitioners ensures high-impact decisions. IT investments evaluated on measurable client and operational efficiency.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415813" y="3209925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A5B8"/>
                </a:solidFill>
                <a:latin typeface="Poppins"/>
                <a:ea typeface="Poppins"/>
                <a:cs typeface="Poppins"/>
                <a:sym typeface="Poppins"/>
              </a:rPr>
              <a:t>Objectivity &amp; Transparency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486775" y="4191000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No audit practice = unbiased recommendations. IT governance remains vendor-neutral &amp; flexible.</a:t>
            </a:r>
            <a:endParaRPr/>
          </a:p>
        </p:txBody>
      </p:sp>
      <p:pic>
        <p:nvPicPr>
          <p:cNvPr descr="image.png" id="170" name="Google Shape;17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5146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8825" y="25146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8825" y="251460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Organizational Behavior at A&amp;M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25054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714375" y="1625054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09625" y="1625054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342"/>
                </a:solidFill>
                <a:latin typeface="Lato"/>
                <a:ea typeface="Lato"/>
                <a:cs typeface="Lato"/>
                <a:sym typeface="Lato"/>
              </a:rPr>
              <a:t>Context:</a:t>
            </a: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Client in financial restructuring faced IT instability due to employee attrition.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714375" y="2282279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09625" y="2282279"/>
            <a:ext cx="5048250" cy="2246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342"/>
                </a:solidFill>
                <a:latin typeface="Lato"/>
                <a:ea typeface="Lato"/>
                <a:cs typeface="Lato"/>
                <a:sym typeface="Lato"/>
              </a:rPr>
              <a:t>A&amp;M Solution: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714375" y="467156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09625" y="4671566"/>
            <a:ext cx="5048250" cy="1370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342"/>
                </a:solidFill>
                <a:latin typeface="Lato"/>
                <a:ea typeface="Lato"/>
                <a:cs typeface="Lato"/>
                <a:sym typeface="Lato"/>
              </a:rPr>
              <a:t>Impact: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904875" y="263303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1000125" y="2634704"/>
            <a:ext cx="4857750" cy="488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Introduced cloud-based Workforce Risk Analysis Platform (integrating HRIS &amp; IT data).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04875" y="326436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1000125" y="3266033"/>
            <a:ext cx="4857750" cy="244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ETL pipelines built for cleansing &amp; standardizing personnel data.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904875" y="3651468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1000125" y="3653135"/>
            <a:ext cx="4857750" cy="488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ML model generated risk indices (tenure, skill scarcity, system dependency).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904875" y="428279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000125" y="4284464"/>
            <a:ext cx="4857750" cy="244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Visual dashboards (Power BI) highlighted single points of failure.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904875" y="5022324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000125" y="5023991"/>
            <a:ext cx="4857750" cy="244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Retention offers extended to critical employees.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04875" y="540942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000125" y="5411092"/>
            <a:ext cx="4857750" cy="244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Automated succession planning.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904875" y="5796528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1000125" y="5798194"/>
            <a:ext cx="4857750" cy="244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2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IT stability improved by 37% within 3 months.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Case Study: IT Intervention for Talent Retention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295275" y="24907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71500" y="38433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